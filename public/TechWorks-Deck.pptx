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D48A"/>
                </a:solidFill>
                <a:latin typeface="Consolas"/>
              </a:rPr>
              <a:t>SOLVAY TECH ED  ·  ROOM 13  · 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2EE6FF"/>
                </a:solidFill>
                <a:latin typeface="Calibri"/>
              </a:rPr>
              <a:t>TECHWORKS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B7C4EA"/>
                </a:solidFill>
                <a:latin typeface="Calibri"/>
              </a:rPr>
              <a:t>Workshop you can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D48A"/>
                </a:solidFill>
                <a:latin typeface="Consolas"/>
              </a:rPr>
              <a:t>Aliases on the wall. Legal names stay in the vault.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4EA"/>
                </a:solidFill>
                <a:latin typeface="Consolas"/>
              </a:rPr>
              <a:t>© 2026 Richard Kulibert. TECHWORKS™ v1.83.1.</a:t>
            </a:r>
          </a:p>
        </p:txBody>
      </p:sp>
      <p:pic>
        <p:nvPicPr>
          <p:cNvPr id="9" name="Picture 8" descr="tech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116708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D48A"/>
                </a:solidFill>
                <a:latin typeface="Consolas"/>
              </a:rPr>
              <a:t>HOW THIS CLASS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9FF"/>
                </a:solidFill>
                <a:latin typeface="Calibri"/>
              </a:rPr>
              <a:t>Crew. Skills. Gold.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30551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CREW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599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You work in a small crew. Four people, one bench.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9583" y="1874519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5615" y="2130551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5615" y="2514599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Measure, cut, finish, share. Real work you can see.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13630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169662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GOLD XP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553710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Getting better at the craft. That is the 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9583" y="3913630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5615" y="4169662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CASH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5615" y="4553710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A perk game. Not the grade. Not on the family sheet.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4EA"/>
                </a:solidFill>
                <a:latin typeface="Consolas"/>
              </a:rPr>
              <a:t>© 2026 Richard Kulibert. TECHWORKS™ v1.83.1.</a:t>
            </a:r>
          </a:p>
        </p:txBody>
      </p:sp>
      <p:pic>
        <p:nvPicPr>
          <p:cNvPr id="19" name="Picture 18" descr="tech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116708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D48A"/>
                </a:solidFill>
                <a:latin typeface="Consolas"/>
              </a:rPr>
              <a:t>EVERY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9FF"/>
                </a:solidFill>
                <a:latin typeface="Calibri"/>
              </a:rPr>
              <a:t>Four beats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Sit with your crew.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6251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7419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7419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LISTEN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7419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Directions first. Then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9583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0751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751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CREW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Today’s activity. Tools with a purpose.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2915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083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083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CLEAN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083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Stations reset before the bell.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4EA"/>
                </a:solidFill>
                <a:latin typeface="Consolas"/>
              </a:rPr>
              <a:t>© 2026 Richard Kulibert. TECHWORKS™ v1.83.1.</a:t>
            </a:r>
          </a:p>
        </p:txBody>
      </p:sp>
      <p:pic>
        <p:nvPicPr>
          <p:cNvPr id="23" name="Picture 22" descr="tech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116708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D48A"/>
                </a:solidFill>
                <a:latin typeface="Consolas"/>
              </a:rPr>
              <a:t>TODAY’S EFFORT  ·  NOT THE SKILL 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9FF"/>
                </a:solidFill>
                <a:latin typeface="Calibri"/>
              </a:rPr>
              <a:t>3  ·  2  ·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79850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55648"/>
            <a:ext cx="331409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86000"/>
            <a:ext cx="33140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On the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06040"/>
            <a:ext cx="331409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Full day with the crew.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7362" y="1645920"/>
            <a:ext cx="3679850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8530" y="1755648"/>
            <a:ext cx="331409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8530" y="2286000"/>
            <a:ext cx="33140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Needs a nudge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8530" y="2606040"/>
            <a:ext cx="331409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Working, with a check-in.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804" y="1645920"/>
            <a:ext cx="3679850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2972" y="1755648"/>
            <a:ext cx="331409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2972" y="2286000"/>
            <a:ext cx="33140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Not with the crew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2972" y="2606040"/>
            <a:ext cx="331409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Off-task. Redirect.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7C4EA"/>
                </a:solidFill>
                <a:latin typeface="Calibri"/>
              </a:rPr>
              <a:t>A absent · E excused · P present but no work. Crew lead taps this period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4EA"/>
                </a:solidFill>
                <a:latin typeface="Consolas"/>
              </a:rPr>
              <a:t>© 2026 Richard Kulibert. TECHWORKS™ v1.83.1.</a:t>
            </a:r>
          </a:p>
        </p:txBody>
      </p:sp>
      <p:pic>
        <p:nvPicPr>
          <p:cNvPr id="20" name="Picture 19" descr="tech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116708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D48A"/>
                </a:solidFill>
                <a:latin typeface="Consolas"/>
              </a:rPr>
              <a:t>OBSERVABLE  ·  WATCH STORES THE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9FF"/>
                </a:solidFill>
                <a:latin typeface="Calibri"/>
              </a:rPr>
              <a:t>Skills 1 to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Beginning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Needs a demo. Not independent yet.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6251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7419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7419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Developing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7419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Can do it with a check-in.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9583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0751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751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Proficient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Independent. Meets the standard.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2915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083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083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Distinguished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083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Can teach a crewmate. Exceeds.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D48A"/>
                </a:solidFill>
                <a:latin typeface="Consolas"/>
              </a:rPr>
              <a:t>SAFETY · MEASURE · DRAW · MODEL · TOOLS · FINISH · PRESENT ·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4EA"/>
                </a:solidFill>
                <a:latin typeface="Consolas"/>
              </a:rPr>
              <a:t>© 2026 Richard Kulibert. TECHWORKS™ v1.83.1.</a:t>
            </a:r>
          </a:p>
        </p:txBody>
      </p:sp>
      <p:pic>
        <p:nvPicPr>
          <p:cNvPr id="24" name="Picture 23" descr="tech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116708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D48A"/>
                </a:solidFill>
                <a:latin typeface="Consolas"/>
              </a:rPr>
              <a:t>ON THE UNIT  ·  NOT A SECOND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9FF"/>
                </a:solidFill>
                <a:latin typeface="Calibri"/>
              </a:rPr>
              <a:t>S  T  E  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Materials, force, speed, and what the test showed.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6251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7419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7419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7419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Tools, files, and the process that made the part.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9583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0751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751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The design: constraints, ideas, and the next change.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2915" y="1554480"/>
            <a:ext cx="2718739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083" y="1664208"/>
            <a:ext cx="23529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E6FF"/>
                </a:solidFill>
                <a:latin typeface="Consolas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083" y="2194560"/>
            <a:ext cx="2352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D48A"/>
                </a:solidFill>
                <a:latin typeface="Consolas"/>
              </a:rPr>
              <a:t>Math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083" y="2514600"/>
            <a:ext cx="23529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F9FF"/>
                </a:solidFill>
                <a:latin typeface="Calibri"/>
              </a:rPr>
              <a:t>Measure, size, scale, and whether the numbers hold.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4EA"/>
                </a:solidFill>
                <a:latin typeface="Calibri"/>
              </a:rPr>
              <a:t>Grade 6 · How can a small force move a bigger load?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4EA"/>
                </a:solidFill>
                <a:latin typeface="Consolas"/>
              </a:rPr>
              <a:t>© 2026 Richard Kulibert. TECHWORKS™ v1.83.1.</a:t>
            </a:r>
          </a:p>
        </p:txBody>
      </p:sp>
      <p:pic>
        <p:nvPicPr>
          <p:cNvPr id="24" name="Picture 23" descr="tech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116708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D48A"/>
                </a:solidFill>
                <a:latin typeface="Consolas"/>
              </a:rPr>
              <a:t>NO WORK UNTIL THIS IS SOLID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9FF"/>
                </a:solidFill>
                <a:latin typeface="Calibri"/>
              </a:rPr>
              <a:t>Safety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30551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GLASSES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599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On before the tool starts.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9583" y="1874519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5615" y="2130551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5615" y="2514599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Ask, then wait for the nod.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13630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169662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ZONE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553710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Stand clear of swing and offcut.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9583" y="3913630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5615" y="4169662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LICENSE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5615" y="4553710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One tool at a time. Licensed tools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D48A"/>
                </a:solidFill>
                <a:latin typeface="Calibri"/>
              </a:rPr>
              <a:t>Distinguished: stop a crewmate who skipped PPE.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4EA"/>
                </a:solidFill>
                <a:latin typeface="Consolas"/>
              </a:rPr>
              <a:t>© 2026 Richard Kulibert. TECHWORKS™ v1.83.1.</a:t>
            </a:r>
          </a:p>
        </p:txBody>
      </p:sp>
      <p:pic>
        <p:nvPicPr>
          <p:cNvPr id="20" name="Picture 19" descr="tech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116708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D48A"/>
                </a:solidFill>
                <a:latin typeface="Consolas"/>
              </a:rPr>
              <a:t>DUPLICATE THIS SLIDE EVERY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E6FF"/>
                </a:solidFill>
                <a:latin typeface="Calibri"/>
              </a:rPr>
              <a:t>Do this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12344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1907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7F9FF"/>
                </a:solidFill>
                <a:latin typeface="Calibri"/>
              </a:rPr>
              <a:t>Technical Drawing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1284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4EA"/>
                </a:solidFill>
                <a:latin typeface="Calibri"/>
              </a:rPr>
              <a:t>Today’s job at the bench.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11155680" cy="12344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7296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LOOK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1363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7F9FF"/>
                </a:solidFill>
                <a:latin typeface="Calibri"/>
              </a:rPr>
              <a:t>a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01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4EA"/>
                </a:solidFill>
                <a:latin typeface="Calibri"/>
              </a:rPr>
              <a:t>Independent. Meets the standard.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89120"/>
            <a:ext cx="11155680" cy="12344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9028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55371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7F9FF"/>
                </a:solidFill>
                <a:latin typeface="Calibri"/>
              </a:rPr>
              <a:t>How can a small force move a bigger load?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04748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7C4EA"/>
                </a:solidFill>
                <a:latin typeface="Calibri"/>
              </a:rPr>
              <a:t>Driving question for this unit.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4EA"/>
                </a:solidFill>
                <a:latin typeface="Consolas"/>
              </a:rPr>
              <a:t>© 2026 Richard Kulibert. TECHWORKS™ v1.83.1.</a:t>
            </a:r>
          </a:p>
        </p:txBody>
      </p:sp>
      <p:pic>
        <p:nvPicPr>
          <p:cNvPr id="19" name="Picture 18" descr="tech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116708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D48A"/>
                </a:solidFill>
                <a:latin typeface="Consolas"/>
              </a:rPr>
              <a:t>LAST BEAT  ·  BEFORE THE BELL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9FF"/>
                </a:solidFill>
                <a:latin typeface="Calibri"/>
              </a:rPr>
              <a:t>Clean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30551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599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Tools and kits away.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9583" y="1874519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5615" y="2130551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5615" y="2514599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Floor and tables clear.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13630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169662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SEATS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553710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Names stay until the room is 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9583" y="3913630"/>
            <a:ext cx="5602071" cy="1874519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5615" y="4169662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HELP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5615" y="4553710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Caught helping extra can earn a perk — not XP.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4EA"/>
                </a:solidFill>
                <a:latin typeface="Consolas"/>
              </a:rPr>
              <a:t>© 2026 Richard Kulibert. TECHWORKS™ v1.83.1.</a:t>
            </a:r>
          </a:p>
        </p:txBody>
      </p:sp>
      <p:pic>
        <p:nvPicPr>
          <p:cNvPr id="19" name="Picture 18" descr="tech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116708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D48A"/>
                </a:solidFill>
                <a:latin typeface="Consolas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9FF"/>
                </a:solidFill>
                <a:latin typeface="Calibri"/>
              </a:rPr>
              <a:t>Title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602071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93392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LEFT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77440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Type over this. Keep the navy 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9583" y="1737360"/>
            <a:ext cx="5602071" cy="1691640"/>
          </a:xfrm>
          <a:prstGeom prst="roundRect">
            <a:avLst/>
          </a:prstGeom>
          <a:solidFill>
            <a:srgbClr val="141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5615" y="1993392"/>
            <a:ext cx="514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D48A"/>
                </a:solidFill>
                <a:latin typeface="Consolas"/>
              </a:rPr>
              <a:t>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5615" y="2377440"/>
            <a:ext cx="514487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9FF"/>
                </a:solidFill>
                <a:latin typeface="Calibri"/>
              </a:rPr>
              <a:t>Duplicate for demos, critiques, club.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D48A"/>
                </a:solidFill>
                <a:latin typeface="Calibri"/>
              </a:rPr>
              <a:t>Default theme master. Do not change the colors.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4EA"/>
                </a:solidFill>
                <a:latin typeface="Consolas"/>
              </a:rPr>
              <a:t>© 2026 Richard Kulibert. TECHWORKS™ v1.83.1.</a:t>
            </a:r>
          </a:p>
        </p:txBody>
      </p:sp>
      <p:pic>
        <p:nvPicPr>
          <p:cNvPr id="14" name="Picture 13" descr="tech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116708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D48A"/>
                </a:solidFill>
                <a:latin typeface="Consolas"/>
              </a:rPr>
              <a:t>ALIASES ON THE PROJECTOR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7F9FF"/>
                </a:solidFill>
                <a:latin typeface="Calibri"/>
              </a:rPr>
              <a:t>See you at the bench.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7C4EA"/>
                </a:solidFill>
                <a:latin typeface="Calibri"/>
              </a:rPr>
              <a:t>Workshop, not a lecture.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D48A"/>
                </a:solidFill>
                <a:latin typeface="Consolas"/>
              </a:rPr>
              <a:t>Legal names stay in the vault.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7C4EA"/>
                </a:solidFill>
                <a:latin typeface="Consolas"/>
              </a:rPr>
              <a:t>© 2026 Richard Kulibert. TECHWORKS™ v1.83.1.</a:t>
            </a:r>
          </a:p>
        </p:txBody>
      </p:sp>
      <p:pic>
        <p:nvPicPr>
          <p:cNvPr id="9" name="Picture 8" descr="tech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1167082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